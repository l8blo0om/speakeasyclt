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0D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8503920" cy="4503420"/>
          </a:xfrm>
          <a:prstGeom prst="rect">
            <a:avLst/>
          </a:prstGeom>
          <a:ln w="1905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635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800" kern="0" dirty="0">
                <a:solidFill>
                  <a:srgbClr val="C9A84C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PRESENTS  ·  EST.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spc="1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SPEAK EASY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5C5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 doesn't get learned.  It gets played.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4160520"/>
            <a:ext cx="2194560" cy="502920"/>
          </a:xfrm>
          <a:prstGeom prst="rect">
            <a:avLst/>
          </a:prstGeom>
          <a:solidFill>
            <a:srgbClr val="CC2529"/>
          </a:solidFill>
          <a:ln w="12700">
            <a:solidFill>
              <a:srgbClr val="CC25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COLUMBIA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74720" y="4160520"/>
            <a:ext cx="2194560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CHARLOTTE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97880" y="4160520"/>
            <a:ext cx="2194560" cy="502920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9788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KIDS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Everybody is "learning" a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Nobody is speaking one.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93192" y="2514600"/>
            <a:ext cx="1965960" cy="2240280"/>
          </a:xfrm>
          <a:prstGeom prst="rect">
            <a:avLst/>
          </a:prstGeom>
          <a:solidFill>
            <a:srgbClr val="FFFEF8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" y="2514600"/>
            <a:ext cx="1965960" cy="64008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7" name="Text 5"/>
          <p:cNvSpPr/>
          <p:nvPr/>
        </p:nvSpPr>
        <p:spPr>
          <a:xfrm>
            <a:off x="393192" y="26974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✗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30352" y="329184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APPS DON'T SPEAK BACK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931920"/>
            <a:ext cx="16367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Duolingo gives you streaks. It doesn't give you confidence at a bar, in a meeting, or at your kid's school.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23744" y="2514600"/>
            <a:ext cx="1965960" cy="2240280"/>
          </a:xfrm>
          <a:prstGeom prst="rect">
            <a:avLst/>
          </a:prstGeom>
          <a:solidFill>
            <a:srgbClr val="FFFEF8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23744" y="2514600"/>
            <a:ext cx="1965960" cy="64008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12" name="Text 10"/>
          <p:cNvSpPr/>
          <p:nvPr/>
        </p:nvSpPr>
        <p:spPr>
          <a:xfrm>
            <a:off x="2523744" y="26974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660904" y="329184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CLASSROOMS ARE STERILE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88336" y="3931920"/>
            <a:ext cx="16367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Fluorescent lights. Worksheets. The same five sentences. No wonder people quit.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54296" y="2514600"/>
            <a:ext cx="1965960" cy="2240280"/>
          </a:xfrm>
          <a:prstGeom prst="rect">
            <a:avLst/>
          </a:prstGeom>
          <a:solidFill>
            <a:srgbClr val="FFFEF8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54296" y="2514600"/>
            <a:ext cx="1965960" cy="64008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17" name="Text 15"/>
          <p:cNvSpPr/>
          <p:nvPr/>
        </p:nvSpPr>
        <p:spPr>
          <a:xfrm>
            <a:off x="4654296" y="26974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✗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791456" y="329184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ADULTS ARE BORED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18888" y="3931920"/>
            <a:ext cx="16367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adult language programs are repackaged childhood school. We're not children. We have wine money.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84848" y="2514600"/>
            <a:ext cx="1965960" cy="2240280"/>
          </a:xfrm>
          <a:prstGeom prst="rect">
            <a:avLst/>
          </a:prstGeom>
          <a:solidFill>
            <a:srgbClr val="FFFEF8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2514600"/>
            <a:ext cx="1965960" cy="64008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22" name="Text 20"/>
          <p:cNvSpPr/>
          <p:nvPr/>
        </p:nvSpPr>
        <p:spPr>
          <a:xfrm>
            <a:off x="6784848" y="26974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✗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922008" y="329184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KIDS TUNE OUT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3931920"/>
            <a:ext cx="1636776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Drill-and-kill flashcards lose to YouTube. Culture and play win.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7863840" cy="38633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Language is
</a:t>
            </a:r>
            <a:pPr algn="ctr" indent="0" marL="0">
              <a:buNone/>
            </a:pPr>
            <a:r>
              <a:rPr lang="en-US" sz="6000" b="1" i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social.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we built a program that runs on the only currency that works for language: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6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PLAYING IT.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4617720"/>
            <a:ext cx="859536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GAMES · DOLLARS · CONVERSATION · DRINKS · CULTURE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6C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BRAND DNA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 speakeasy on a Monopoly board.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class is a turn. Every conversation is a roll. Every word you risk pays you in Speak Easy Dollars.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" y="2331720"/>
            <a:ext cx="1965960" cy="2331720"/>
          </a:xfrm>
          <a:prstGeom prst="rect">
            <a:avLst/>
          </a:prstGeom>
          <a:solidFill>
            <a:srgbClr val="FAF4E1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2331720"/>
            <a:ext cx="196596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/>
          <p:nvPr/>
        </p:nvSpPr>
        <p:spPr>
          <a:xfrm>
            <a:off x="393192" y="2331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3192" y="301752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557784" y="3886200"/>
            <a:ext cx="16367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Showing up pays. Walk through the door, collect $200.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23744" y="2331720"/>
            <a:ext cx="1965960" cy="2331720"/>
          </a:xfrm>
          <a:prstGeom prst="rect">
            <a:avLst/>
          </a:prstGeom>
          <a:solidFill>
            <a:srgbClr val="FAF4E1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23744" y="2331720"/>
            <a:ext cx="196596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2523744" y="2331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JAIL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23744" y="301752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2688336" y="3886200"/>
            <a:ext cx="16367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 the wrong language? Time-out. Get out by playing a card.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54296" y="2331720"/>
            <a:ext cx="1965960" cy="2331720"/>
          </a:xfrm>
          <a:prstGeom prst="rect">
            <a:avLst/>
          </a:prstGeom>
          <a:solidFill>
            <a:srgbClr val="FAF4E1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54296" y="2331720"/>
            <a:ext cx="196596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4654296" y="2331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FREE PARKING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54296" y="301752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4818888" y="3886200"/>
            <a:ext cx="16367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End-of-night jackpot for the table that took the most risks.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84848" y="2331720"/>
            <a:ext cx="1965960" cy="2331720"/>
          </a:xfrm>
          <a:prstGeom prst="rect">
            <a:avLst/>
          </a:prstGeom>
          <a:solidFill>
            <a:srgbClr val="FAF4E1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4848" y="2331720"/>
            <a:ext cx="196596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21"/>
          <p:cNvSpPr/>
          <p:nvPr/>
        </p:nvSpPr>
        <p:spPr>
          <a:xfrm>
            <a:off x="6784848" y="23317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CHANCE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84848" y="301752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</a:t>
            </a:r>
            <a:endParaRPr lang="en-US" sz="5600" dirty="0"/>
          </a:p>
        </p:txBody>
      </p:sp>
      <p:sp>
        <p:nvSpPr>
          <p:cNvPr id="25" name="Text 23"/>
          <p:cNvSpPr/>
          <p:nvPr/>
        </p:nvSpPr>
        <p:spPr>
          <a:xfrm>
            <a:off x="6949440" y="3886200"/>
            <a:ext cx="16367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Curveballs, prompts, accents, dares. The deck always speaks.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WHO'S BEHIND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Three decades of teaching.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Now in a bar near you.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903720" y="411480"/>
            <a:ext cx="1783080" cy="1783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pic>
        <p:nvPicPr>
          <p:cNvPr id="6" name="Image 0" descr="/tmp/speakeasy_deck/fou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457200"/>
            <a:ext cx="1691640" cy="1691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0160" y="2194560"/>
            <a:ext cx="6583680" cy="2377440"/>
          </a:xfrm>
          <a:prstGeom prst="rect">
            <a:avLst/>
          </a:prstGeom>
          <a:solidFill>
            <a:srgbClr val="FFFEF8"/>
          </a:solidFill>
          <a:ln w="31750">
            <a:solidFill>
              <a:srgbClr val="1A1A1A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794760" y="2034540"/>
            <a:ext cx="1554480" cy="320040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9" name="Text 6"/>
          <p:cNvSpPr/>
          <p:nvPr/>
        </p:nvSpPr>
        <p:spPr>
          <a:xfrm>
            <a:off x="3794760" y="20345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TITLE DEED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00200" y="26060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PhD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2514600" y="26060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 Literature  —  University of Michigan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600200" y="3017520"/>
            <a:ext cx="594360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1600200" y="30632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2514600" y="3063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 Literature, with Graduate Certificate in Women's Studies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600200" y="3474720"/>
            <a:ext cx="594360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160020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2514600" y="3520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 &amp; French  —  Amherst College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280160" y="4023360"/>
            <a:ext cx="6583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/>
          <p:nvPr/>
        </p:nvSpPr>
        <p:spPr>
          <a:xfrm>
            <a:off x="1280160" y="40233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EDUCATOR SINCE 1996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48640" y="45948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chatbot. Not an app. A real teacher who has done this for as long as some of your students have been alive.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ONE BRAND.  THREE ROOMS.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Pick the room. Same Speak Easy Dollars.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69164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691640"/>
            <a:ext cx="2651760" cy="777240"/>
          </a:xfrm>
          <a:prstGeom prst="rect">
            <a:avLst/>
          </a:prstGeom>
          <a:solidFill>
            <a:srgbClr val="CC2529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COLUMBIA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" y="2606040"/>
            <a:ext cx="23225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   Spanish speakers learning English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 Columbia, SC — bar near USC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  Tue / Thu / Sat · 6:30 PM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  Speakeasy meets game night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  Now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 first night · $99 month pass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69164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691640"/>
            <a:ext cx="2651760" cy="777240"/>
          </a:xfrm>
          <a:prstGeom prst="rect">
            <a:avLst/>
          </a:prstGeom>
          <a:solidFill>
            <a:srgbClr val="C9A84C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CHARLOTTE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10712" y="2606040"/>
            <a:ext cx="23225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   Adults — happy hour Spanglish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 Charlotte, NC — 2 venues rotating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  Wed / Fri · 6–8 PM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  After-work cocktail lounge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  Pilot launching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first night · $50/mo · drink specials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1691640"/>
            <a:ext cx="26517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1691640"/>
            <a:ext cx="2651760" cy="77724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KIDS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36792" y="2606040"/>
            <a:ext cx="23225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   K–5 kids learning Spanish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 Afterschool, on-site at schools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  8-week sessions, weekly meet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  Culture Club + games + crafts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  Pilot fall 2026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TBD · pilot pricing for first school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3840480" cy="4046220"/>
          </a:xfrm>
          <a:prstGeom prst="rect">
            <a:avLst/>
          </a:prstGeom>
          <a:solidFill>
            <a:srgbClr val="FFFEF8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548640"/>
            <a:ext cx="3840480" cy="914400"/>
          </a:xfrm>
          <a:prstGeom prst="rect">
            <a:avLst/>
          </a:prstGeom>
          <a:solidFill>
            <a:srgbClr val="CC2529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COLUMBIA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4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TITLE DEED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ANCHOR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Where Speak Easy was born.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35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NIGHTS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57400" y="260604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 · Thu · Sat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29260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35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TIME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57400" y="29260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6:30 PM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35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VENUE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7400" y="324612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near Columbia College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5661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35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LANGUAGE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Spanish → English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8862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35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FORMAT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57400" y="388620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Games · Drinks · Dollars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420624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635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CONTACT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57400" y="420624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803.881.6626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5486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8686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Spanish speakers walk in. English happens.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754880" y="178308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drinks in, the speakeasy economy takes over. You earn Speak Easy Dollars for risking words you wouldn't try on Duolingo. You spend them on rounds.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2971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PRICING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09574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4"/>
          <p:cNvSpPr/>
          <p:nvPr/>
        </p:nvSpPr>
        <p:spPr>
          <a:xfrm>
            <a:off x="4773168" y="3337560"/>
            <a:ext cx="6729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$10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773168" y="3840480"/>
            <a:ext cx="6729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FIRST NIGHT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537606" y="3291840"/>
            <a:ext cx="709574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/>
          <p:nvPr/>
        </p:nvSpPr>
        <p:spPr>
          <a:xfrm>
            <a:off x="5555894" y="3337560"/>
            <a:ext cx="6729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$20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555894" y="3840480"/>
            <a:ext cx="6729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DROP-IN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20333" y="3291840"/>
            <a:ext cx="709574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30"/>
          <p:cNvSpPr/>
          <p:nvPr/>
        </p:nvSpPr>
        <p:spPr>
          <a:xfrm>
            <a:off x="6338621" y="3337560"/>
            <a:ext cx="6729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$35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338621" y="3840480"/>
            <a:ext cx="6729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WEEK PASS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03059" y="3291840"/>
            <a:ext cx="709574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3"/>
          <p:cNvSpPr/>
          <p:nvPr/>
        </p:nvSpPr>
        <p:spPr>
          <a:xfrm>
            <a:off x="7121347" y="3337560"/>
            <a:ext cx="6729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$99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121347" y="3840480"/>
            <a:ext cx="6729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MONTH PASS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885786" y="3291840"/>
            <a:ext cx="709574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6"/>
          <p:cNvSpPr/>
          <p:nvPr/>
        </p:nvSpPr>
        <p:spPr>
          <a:xfrm>
            <a:off x="7904074" y="3337560"/>
            <a:ext cx="6729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$199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904074" y="3840480"/>
            <a:ext cx="6729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3-MONTH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754880" y="4434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3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speak.easy.columbia@gmail.com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0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9A84C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CHARLOTTE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After-work, after-hours, after the apps.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035040" y="1783080"/>
            <a:ext cx="2651760" cy="2286000"/>
          </a:xfrm>
          <a:prstGeom prst="rect">
            <a:avLst/>
          </a:prstGeom>
          <a:solidFill>
            <a:srgbClr val="0B1A0D"/>
          </a:solidFill>
          <a:ln w="254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0" y="19202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1200" kern="0" dirty="0">
                <a:solidFill>
                  <a:srgbClr val="C9A84C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OPEN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035040" y="27889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3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WED · FRI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35040" y="3246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 – 8 PM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0" y="36118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happy hour pricing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84C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EXPERIMENT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Same brand. Different city. Drink discount included.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2971800"/>
            <a:ext cx="5303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Charlotte bars host us on rotation, three months at a time. Locals stop in for cocktails. They leave with Spanglish, a new crew, and a stack of Speak Easy Dollars.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366260"/>
            <a:ext cx="9144000" cy="7772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43662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FREE FIRST NIGHT · $10 DROP-IN · $50 MONTH · DRINK SPECIALS AT EVERY VENUE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365760"/>
            <a:ext cx="2286000" cy="411480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0" y="365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DRAFT  ·  IN PROGRESS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KIDS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Eight weeks. Five grades.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One afterschool classroom that doesn't feel like school.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24028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402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2402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HOLA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97480" y="224028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24028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22402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54680" y="22402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FAMILIA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224028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24028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2402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12080" y="22402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COMIDA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12280" y="224028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224028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22402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224028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MERCADO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301752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01752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017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30175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FIESTA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2697480" y="301752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7480" y="301752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/>
          <p:nvPr/>
        </p:nvSpPr>
        <p:spPr>
          <a:xfrm>
            <a:off x="2697480" y="3017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54680" y="30175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CUENTOS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754880" y="301752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301752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3017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12080" y="30175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JUEGOS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12280" y="3017520"/>
            <a:ext cx="1965960" cy="685800"/>
          </a:xfrm>
          <a:prstGeom prst="rect">
            <a:avLst/>
          </a:prstGeom>
          <a:solidFill>
            <a:srgbClr val="F5C518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3017520"/>
            <a:ext cx="41148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7" name="Text 35"/>
          <p:cNvSpPr/>
          <p:nvPr/>
        </p:nvSpPr>
        <p:spPr>
          <a:xfrm>
            <a:off x="6812280" y="3017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69480" y="3017520"/>
            <a:ext cx="1463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FINALE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5034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Themes inspired by Culture Club. Final curriculum locks once source materials are reviewed.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PARTNER VALUE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If you host us, here's the deal.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931920" cy="2857500"/>
          </a:xfrm>
          <a:prstGeom prst="rect">
            <a:avLst/>
          </a:prstGeom>
          <a:solidFill>
            <a:srgbClr val="0B1A0D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3931920" cy="5029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37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BARS  ·  RESTAURANTS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3383280" cy="1988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 your off-nights with a recurring crowd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30–50 paying customers per session, drinking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local press: "the bar that teaches Spanish"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 Easy handles marketing &amp; programming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risk: revenue share, no rent up front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737360"/>
            <a:ext cx="3840480" cy="2857500"/>
          </a:xfrm>
          <a:prstGeom prst="rect">
            <a:avLst/>
          </a:prstGeom>
          <a:solidFill>
            <a:srgbClr val="FFFEF8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737360"/>
            <a:ext cx="3840480" cy="502920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737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SCHOOLS  ·  PTAs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3291840" cy="1988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Turnkey 8-week afterschool, K–5 mixed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enrichment with real outcomes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goodwill: not another worksheet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Instructor + materials + games included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Week-8 finale showcase for families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6C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PRICING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Built to be the easiest yes of your week.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3291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300" kern="0" dirty="0">
                          <a:solidFill>
                            <a:srgbClr val="FFFFFF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TIER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spc="300" kern="0" dirty="0">
                          <a:solidFill>
                            <a:srgbClr val="FFFFFF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COLUMBIA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2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spc="300" kern="0" dirty="0">
                          <a:solidFill>
                            <a:srgbClr val="FFFFFF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CHARLOTTE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spc="300" kern="0" dirty="0">
                          <a:solidFill>
                            <a:srgbClr val="FFFFFF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KIDS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First night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2529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$10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A84C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FREE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Drop-in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2529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$20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A84C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$10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Week pass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2529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$35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 pass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2529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$99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A84C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$50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3-month course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2529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$199</a:t>
                      </a:r>
                      <a:endParaRPr lang="en-US" sz="12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8-week session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3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Oswald" pitchFamily="34" charset="0"/>
                          <a:ea typeface="Oswald" pitchFamily="34" charset="-122"/>
                          <a:cs typeface="Oswald" pitchFamily="34" charset="-120"/>
                        </a:rPr>
                        <a:t>$129 school · $300 in-home</a:t>
                      </a:r>
                      <a:endParaRPr lang="en-US" sz="1000" dirty="0">
                        <a:latin typeface="Oswald" charset="0"/>
                        <a:ea typeface="Oswald" charset="0"/>
                        <a:cs typeface="Oswa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3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Charlotte includes drink specials at every venue · Columbia and Kids include all materials · No hidden fees anywhere.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0" y="4594860"/>
            <a:ext cx="914400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/>
          <p:nvPr/>
        </p:nvSpPr>
        <p:spPr>
          <a:xfrm>
            <a:off x="0" y="45948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5C518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HOUSE ALWAYS PAYS YOU BACK — IN SPEAK EASY DOLLARS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4E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C252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ASK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Pick your card. We'll deal you in.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8620" y="1691640"/>
            <a:ext cx="2697480" cy="2743200"/>
          </a:xfrm>
          <a:prstGeom prst="rect">
            <a:avLst/>
          </a:prstGeom>
          <a:solidFill>
            <a:srgbClr val="FFFEF8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8620" y="1691640"/>
            <a:ext cx="2697480" cy="6400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388620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BAR OWNERS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1500" y="2560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HOST US.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17220" y="324612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off-nights on your calendar become Speak Easy nights. We bring the crowd. You pour the drinks. Revenue share, no rent.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260" y="1691640"/>
            <a:ext cx="2697480" cy="2743200"/>
          </a:xfrm>
          <a:prstGeom prst="rect">
            <a:avLst/>
          </a:prstGeom>
          <a:solidFill>
            <a:srgbClr val="FFFEF8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23260" y="1691640"/>
            <a:ext cx="2697480" cy="640080"/>
          </a:xfrm>
          <a:prstGeom prst="rect">
            <a:avLst/>
          </a:prstGeom>
          <a:solidFill>
            <a:srgbClr val="CC2529"/>
          </a:solidFill>
          <a:ln/>
        </p:spPr>
      </p:sp>
      <p:sp>
        <p:nvSpPr>
          <p:cNvPr id="12" name="Text 10"/>
          <p:cNvSpPr/>
          <p:nvPr/>
        </p:nvSpPr>
        <p:spPr>
          <a:xfrm>
            <a:off x="3223260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SCHOOLS · PTAs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06140" y="2560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PILOT US.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451860" y="324612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weeks. One classroom. K–5 mixed. We provide instructor, materials, games, showcase. You provide the room.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57900" y="1691640"/>
            <a:ext cx="2697480" cy="2743200"/>
          </a:xfrm>
          <a:prstGeom prst="rect">
            <a:avLst/>
          </a:prstGeom>
          <a:solidFill>
            <a:srgbClr val="FFFEF8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57900" y="1691640"/>
            <a:ext cx="2697480" cy="64008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7" name="Text 15"/>
          <p:cNvSpPr/>
          <p:nvPr/>
        </p:nvSpPr>
        <p:spPr>
          <a:xfrm>
            <a:off x="6057900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STUDENTS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0780" y="2560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ENROLL.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286500" y="324612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up Tuesday. $10. We'll do the rest. By month two you're ordering rounds in your second language.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6405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5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 ARE TAKING MEETINGS NOW.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8503920" cy="4503420"/>
          </a:xfrm>
          <a:prstGeom prst="rect">
            <a:avLst/>
          </a:prstGeom>
          <a:ln w="1905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635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800" kern="0" dirty="0">
                <a:solidFill>
                  <a:srgbClr val="C9A84C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KNOCK THREE TIMES.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FAF4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SPEAK EASY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3657600" y="2697480"/>
            <a:ext cx="1828800" cy="0"/>
          </a:xfrm>
          <a:prstGeom prst="line">
            <a:avLst/>
          </a:prstGeom>
          <a:noFill/>
          <a:ln w="25400">
            <a:solidFill>
              <a:srgbClr val="F5C5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speak.easy.columbia@gmail.com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AF4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803.881.6626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0" kern="0" dirty="0">
                <a:solidFill>
                  <a:srgbClr val="1A1A1A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COLUMBIA  ·  CHARLOTTE  ·  KIDS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 Easy — Master Pitch</dc:title>
  <dc:subject>PptxGenJS Presentation</dc:subject>
  <dc:creator>Speak Easy</dc:creator>
  <cp:lastModifiedBy>Speak Easy</cp:lastModifiedBy>
  <cp:revision>1</cp:revision>
  <dcterms:created xsi:type="dcterms:W3CDTF">2026-05-25T15:55:18Z</dcterms:created>
  <dcterms:modified xsi:type="dcterms:W3CDTF">2026-05-25T15:55:18Z</dcterms:modified>
</cp:coreProperties>
</file>
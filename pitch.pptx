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A0D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320040"/>
            <a:ext cx="8503920" cy="4503420"/>
          </a:xfrm>
          <a:prstGeom prst="rect">
            <a:avLst/>
          </a:prstGeom>
          <a:ln w="1905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57200"/>
            <a:ext cx="8229600" cy="4229100"/>
          </a:xfrm>
          <a:prstGeom prst="rect">
            <a:avLst/>
          </a:prstGeom>
          <a:ln w="635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800" kern="0" dirty="0">
                <a:solidFill>
                  <a:srgbClr val="C9A84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PRESENTS  ·  EST. 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spc="1200" kern="0" dirty="0">
                <a:solidFill>
                  <a:srgbClr val="FAF4E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SPEAK EASY</a:t>
            </a:r>
            <a:endParaRPr lang="en-US" sz="8400" dirty="0"/>
          </a:p>
        </p:txBody>
      </p:sp>
      <p:sp>
        <p:nvSpPr>
          <p:cNvPr id="7" name="Text 5"/>
          <p:cNvSpPr/>
          <p:nvPr/>
        </p:nvSpPr>
        <p:spPr>
          <a:xfrm>
            <a:off x="457200" y="31546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5C5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Language doesn't get learned.  It gets played.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51560" y="4160520"/>
            <a:ext cx="2194560" cy="502920"/>
          </a:xfrm>
          <a:prstGeom prst="rect">
            <a:avLst/>
          </a:prstGeom>
          <a:solidFill>
            <a:srgbClr val="CC2529"/>
          </a:solidFill>
          <a:ln w="12700">
            <a:solidFill>
              <a:srgbClr val="CC252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41605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600" kern="0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COLUMBIA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474720" y="4160520"/>
            <a:ext cx="2194560" cy="5029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41605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600" kern="0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CHARLOTTE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897880" y="4160520"/>
            <a:ext cx="2194560" cy="50292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97880" y="41605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600" kern="0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KIDS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4E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CC2529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spc="100" kern="0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Everybody is "learning" a language.</a:t>
            </a:r>
            <a:endParaRPr lang="en-US" sz="3400" dirty="0"/>
          </a:p>
          <a:p>
            <a:pPr indent="0" marL="0">
              <a:buNone/>
            </a:pPr>
            <a:r>
              <a:rPr lang="en-US" sz="3400" b="1" spc="100" kern="0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Nobody is speaking one.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93192" y="2514600"/>
            <a:ext cx="1965960" cy="2240280"/>
          </a:xfrm>
          <a:prstGeom prst="rect">
            <a:avLst/>
          </a:prstGeom>
          <a:solidFill>
            <a:srgbClr val="FFFEF8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93192" y="2514600"/>
            <a:ext cx="1965960" cy="64008"/>
          </a:xfrm>
          <a:prstGeom prst="rect">
            <a:avLst/>
          </a:prstGeom>
          <a:solidFill>
            <a:srgbClr val="CC2529"/>
          </a:solidFill>
          <a:ln/>
        </p:spPr>
      </p:sp>
      <p:sp>
        <p:nvSpPr>
          <p:cNvPr id="7" name="Text 5"/>
          <p:cNvSpPr/>
          <p:nvPr/>
        </p:nvSpPr>
        <p:spPr>
          <a:xfrm>
            <a:off x="393192" y="269748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C2529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✗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30352" y="329184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APPS DON'T SPEAK BACK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57784" y="3931920"/>
            <a:ext cx="163677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Duolingo gives you streaks. It doesn't give you confidence at a bar, in a meeting, or at your kid's school.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23744" y="2514600"/>
            <a:ext cx="1965960" cy="2240280"/>
          </a:xfrm>
          <a:prstGeom prst="rect">
            <a:avLst/>
          </a:prstGeom>
          <a:solidFill>
            <a:srgbClr val="FFFEF8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23744" y="2514600"/>
            <a:ext cx="1965960" cy="64008"/>
          </a:xfrm>
          <a:prstGeom prst="rect">
            <a:avLst/>
          </a:prstGeom>
          <a:solidFill>
            <a:srgbClr val="CC2529"/>
          </a:solidFill>
          <a:ln/>
        </p:spPr>
      </p:sp>
      <p:sp>
        <p:nvSpPr>
          <p:cNvPr id="12" name="Text 10"/>
          <p:cNvSpPr/>
          <p:nvPr/>
        </p:nvSpPr>
        <p:spPr>
          <a:xfrm>
            <a:off x="2523744" y="269748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C2529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✗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2660904" y="329184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CLASSROOMS ARE STERILE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88336" y="3931920"/>
            <a:ext cx="163677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Fluorescent lights. Worksheets. The same five sentences. No wonder people quit.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54296" y="2514600"/>
            <a:ext cx="1965960" cy="2240280"/>
          </a:xfrm>
          <a:prstGeom prst="rect">
            <a:avLst/>
          </a:prstGeom>
          <a:solidFill>
            <a:srgbClr val="FFFEF8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54296" y="2514600"/>
            <a:ext cx="1965960" cy="64008"/>
          </a:xfrm>
          <a:prstGeom prst="rect">
            <a:avLst/>
          </a:prstGeom>
          <a:solidFill>
            <a:srgbClr val="CC2529"/>
          </a:solidFill>
          <a:ln/>
        </p:spPr>
      </p:sp>
      <p:sp>
        <p:nvSpPr>
          <p:cNvPr id="17" name="Text 15"/>
          <p:cNvSpPr/>
          <p:nvPr/>
        </p:nvSpPr>
        <p:spPr>
          <a:xfrm>
            <a:off x="4654296" y="269748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C2529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✗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4791456" y="329184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ADULTS ARE BORED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18888" y="3931920"/>
            <a:ext cx="163677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 adult language programs are repackaged childhood school. We're not children. We have wine money.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784848" y="2514600"/>
            <a:ext cx="1965960" cy="2240280"/>
          </a:xfrm>
          <a:prstGeom prst="rect">
            <a:avLst/>
          </a:prstGeom>
          <a:solidFill>
            <a:srgbClr val="FFFEF8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84848" y="2514600"/>
            <a:ext cx="1965960" cy="64008"/>
          </a:xfrm>
          <a:prstGeom prst="rect">
            <a:avLst/>
          </a:prstGeom>
          <a:solidFill>
            <a:srgbClr val="CC2529"/>
          </a:solidFill>
          <a:ln/>
        </p:spPr>
      </p:sp>
      <p:sp>
        <p:nvSpPr>
          <p:cNvPr id="22" name="Text 20"/>
          <p:cNvSpPr/>
          <p:nvPr/>
        </p:nvSpPr>
        <p:spPr>
          <a:xfrm>
            <a:off x="6784848" y="269748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C2529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✗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6922008" y="329184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KIDS TUNE OUT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949440" y="3931920"/>
            <a:ext cx="163677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Drill-and-kill flashcards lose to YouTube. Culture and play win.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640080"/>
            <a:ext cx="7863840" cy="38633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800" kern="0" dirty="0">
                <a:solidFill>
                  <a:srgbClr val="F5C51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THE INSIGHT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AF4E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Language is
</a:t>
            </a:r>
            <a:pPr algn="ctr" indent="0" marL="0">
              <a:buNone/>
            </a:pPr>
            <a:r>
              <a:rPr lang="en-US" sz="6000" b="1" i="1" dirty="0">
                <a:solidFill>
                  <a:srgbClr val="F5C51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social.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AF4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we built a program that runs on the only currency that works for language: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4290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spc="600" kern="0" dirty="0">
                <a:solidFill>
                  <a:srgbClr val="F5C51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PLAYING IT.</a:t>
            </a:r>
            <a:endParaRPr lang="en-US" sz="56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4617720"/>
            <a:ext cx="859536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5C51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GAMES · DOLLARS · CONVERSATION · DRINKS · CULTURE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E6C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CC2529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BRAND DNA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 speakeasy on a Monopoly board.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class is a turn. Every conversation is a roll. Every word you risk pays you in Speak Easy Dollars.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93192" y="2331720"/>
            <a:ext cx="1965960" cy="2331720"/>
          </a:xfrm>
          <a:prstGeom prst="rect">
            <a:avLst/>
          </a:prstGeom>
          <a:solidFill>
            <a:srgbClr val="FAF4E1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93192" y="2331720"/>
            <a:ext cx="1965960" cy="5486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8" name="Text 6"/>
          <p:cNvSpPr/>
          <p:nvPr/>
        </p:nvSpPr>
        <p:spPr>
          <a:xfrm>
            <a:off x="393192" y="233172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5C51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GO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93192" y="301752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5C51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$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557784" y="3886200"/>
            <a:ext cx="163677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Showing up pays. Walk through the door, collect $200.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23744" y="2331720"/>
            <a:ext cx="1965960" cy="2331720"/>
          </a:xfrm>
          <a:prstGeom prst="rect">
            <a:avLst/>
          </a:prstGeom>
          <a:solidFill>
            <a:srgbClr val="FAF4E1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23744" y="2331720"/>
            <a:ext cx="1965960" cy="5486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3" name="Text 11"/>
          <p:cNvSpPr/>
          <p:nvPr/>
        </p:nvSpPr>
        <p:spPr>
          <a:xfrm>
            <a:off x="2523744" y="233172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5C51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JAIL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23744" y="301752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5C51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$</a:t>
            </a:r>
            <a:endParaRPr lang="en-US" sz="5600" dirty="0"/>
          </a:p>
        </p:txBody>
      </p:sp>
      <p:sp>
        <p:nvSpPr>
          <p:cNvPr id="15" name="Text 13"/>
          <p:cNvSpPr/>
          <p:nvPr/>
        </p:nvSpPr>
        <p:spPr>
          <a:xfrm>
            <a:off x="2688336" y="3886200"/>
            <a:ext cx="163677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Speak the wrong language? Time-out. Get out by playing a card.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54296" y="2331720"/>
            <a:ext cx="1965960" cy="2331720"/>
          </a:xfrm>
          <a:prstGeom prst="rect">
            <a:avLst/>
          </a:prstGeom>
          <a:solidFill>
            <a:srgbClr val="FAF4E1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54296" y="2331720"/>
            <a:ext cx="1965960" cy="5486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8" name="Text 16"/>
          <p:cNvSpPr/>
          <p:nvPr/>
        </p:nvSpPr>
        <p:spPr>
          <a:xfrm>
            <a:off x="4654296" y="233172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5C51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FREE PARKING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654296" y="301752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5C51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$</a:t>
            </a:r>
            <a:endParaRPr lang="en-US" sz="5600" dirty="0"/>
          </a:p>
        </p:txBody>
      </p:sp>
      <p:sp>
        <p:nvSpPr>
          <p:cNvPr id="20" name="Text 18"/>
          <p:cNvSpPr/>
          <p:nvPr/>
        </p:nvSpPr>
        <p:spPr>
          <a:xfrm>
            <a:off x="4818888" y="3886200"/>
            <a:ext cx="163677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End-of-night jackpot for the table that took the most risks.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784848" y="2331720"/>
            <a:ext cx="1965960" cy="2331720"/>
          </a:xfrm>
          <a:prstGeom prst="rect">
            <a:avLst/>
          </a:prstGeom>
          <a:solidFill>
            <a:srgbClr val="FAF4E1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84848" y="2331720"/>
            <a:ext cx="1965960" cy="5486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3" name="Text 21"/>
          <p:cNvSpPr/>
          <p:nvPr/>
        </p:nvSpPr>
        <p:spPr>
          <a:xfrm>
            <a:off x="6784848" y="233172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5C51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CHANCE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784848" y="301752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5C51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$</a:t>
            </a:r>
            <a:endParaRPr lang="en-US" sz="5600" dirty="0"/>
          </a:p>
        </p:txBody>
      </p:sp>
      <p:sp>
        <p:nvSpPr>
          <p:cNvPr id="25" name="Text 23"/>
          <p:cNvSpPr/>
          <p:nvPr/>
        </p:nvSpPr>
        <p:spPr>
          <a:xfrm>
            <a:off x="6949440" y="3886200"/>
            <a:ext cx="163677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Curveballs, prompts, accents, dares. The deck always speaks.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4E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CC2529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WHO'S BEHIND IT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5669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Three decades of teaching.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Now in a bar near you.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903720" y="411480"/>
            <a:ext cx="1783080" cy="17830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pic>
        <p:nvPicPr>
          <p:cNvPr id="6" name="Image 0" descr="/tmp/speakeasy_deck/founder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49440" y="457200"/>
            <a:ext cx="1691640" cy="16916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280160" y="2194560"/>
            <a:ext cx="6583680" cy="2377440"/>
          </a:xfrm>
          <a:prstGeom prst="rect">
            <a:avLst/>
          </a:prstGeom>
          <a:solidFill>
            <a:srgbClr val="FFFEF8"/>
          </a:solidFill>
          <a:ln w="31750">
            <a:solidFill>
              <a:srgbClr val="1A1A1A"/>
            </a:solidFill>
            <a:prstDash val="solid"/>
          </a:ln>
          <a:effectLst>
            <a:outerShdw sx="100000" sy="100000" kx="0" ky="0" algn="bl" rotWithShape="0" blurRad="152400" dist="63500" dir="5400000">
              <a:srgbClr val="000000">
                <a:alpha val="2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794760" y="2034540"/>
            <a:ext cx="1554480" cy="320040"/>
          </a:xfrm>
          <a:prstGeom prst="rect">
            <a:avLst/>
          </a:prstGeom>
          <a:solidFill>
            <a:srgbClr val="CC2529"/>
          </a:solidFill>
          <a:ln/>
        </p:spPr>
      </p:sp>
      <p:sp>
        <p:nvSpPr>
          <p:cNvPr id="9" name="Text 6"/>
          <p:cNvSpPr/>
          <p:nvPr/>
        </p:nvSpPr>
        <p:spPr>
          <a:xfrm>
            <a:off x="3794760" y="20345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0" kern="0" dirty="0">
                <a:solidFill>
                  <a:srgbClr val="FAF4E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TITLE DEED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600200" y="260604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CC2529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PhD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2514600" y="26060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Comparative Literature  —  University of Michigan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1600200" y="3017520"/>
            <a:ext cx="5943600" cy="0"/>
          </a:xfrm>
          <a:prstGeom prst="line">
            <a:avLst/>
          </a:prstGeom>
          <a:noFill/>
          <a:ln w="9525">
            <a:solidFill>
              <a:srgbClr val="C9BFAE"/>
            </a:solidFill>
            <a:prstDash val="dash"/>
          </a:ln>
        </p:spPr>
      </p:sp>
      <p:sp>
        <p:nvSpPr>
          <p:cNvPr id="13" name="Text 10"/>
          <p:cNvSpPr/>
          <p:nvPr/>
        </p:nvSpPr>
        <p:spPr>
          <a:xfrm>
            <a:off x="1600200" y="306324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CC2529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MA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2514600" y="30632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Comparative Literature, with Graduate Certificate in Women's Studies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1600200" y="3474720"/>
            <a:ext cx="5943600" cy="0"/>
          </a:xfrm>
          <a:prstGeom prst="line">
            <a:avLst/>
          </a:prstGeom>
          <a:noFill/>
          <a:ln w="9525">
            <a:solidFill>
              <a:srgbClr val="C9BFAE"/>
            </a:solidFill>
            <a:prstDash val="dash"/>
          </a:ln>
        </p:spPr>
      </p:sp>
      <p:sp>
        <p:nvSpPr>
          <p:cNvPr id="16" name="Text 13"/>
          <p:cNvSpPr/>
          <p:nvPr/>
        </p:nvSpPr>
        <p:spPr>
          <a:xfrm>
            <a:off x="1600200" y="352044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CC2529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BA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2514600" y="35204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English &amp; French  —  Amherst College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1280160" y="4023360"/>
            <a:ext cx="6583680" cy="5486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9" name="Text 16"/>
          <p:cNvSpPr/>
          <p:nvPr/>
        </p:nvSpPr>
        <p:spPr>
          <a:xfrm>
            <a:off x="1280160" y="402336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800" kern="0" dirty="0">
                <a:solidFill>
                  <a:srgbClr val="F5C51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EDUCATOR SINCE 1996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548640" y="45948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a chatbot. Not an app. A real teacher who has done this for as long as some of your students have been alive.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4E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CC2529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ONE BRAND.  THREE ROOMS.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Pick the room. Same Speak Easy Dollars.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691640"/>
            <a:ext cx="265176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691640"/>
            <a:ext cx="2651760" cy="777240"/>
          </a:xfrm>
          <a:prstGeom prst="rect">
            <a:avLst/>
          </a:prstGeom>
          <a:solidFill>
            <a:srgbClr val="CC2529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69164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AF4E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COLUMBIA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4632" y="2606040"/>
            <a:ext cx="232257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   Spanish speakers learning English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 Columbia, SC — bar near USC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  Tue / Thu / Sat · 6:30 PM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VIBE   Speakeasy meets game night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  Now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$10 first night · $99 month pass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46120" y="1691640"/>
            <a:ext cx="265176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691640"/>
            <a:ext cx="2651760" cy="777240"/>
          </a:xfrm>
          <a:prstGeom prst="rect">
            <a:avLst/>
          </a:prstGeom>
          <a:solidFill>
            <a:srgbClr val="C9A84C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69164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CHARLOTTE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10712" y="2606040"/>
            <a:ext cx="232257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   Adults — happy hour Spanglish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 Charlotte, NC — 2 venues rotating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  Wed / Fri · 6–8 PM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VIBE   After-work cocktail lounge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  Pilot launching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$10 first night · drink discount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265176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72200" y="1691640"/>
            <a:ext cx="2651760" cy="777240"/>
          </a:xfrm>
          <a:prstGeom prst="rect">
            <a:avLst/>
          </a:prstGeom>
          <a:solidFill>
            <a:srgbClr val="F5C518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169164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KIDS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36792" y="2606040"/>
            <a:ext cx="232257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   K–5 kids learning Spanish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 Afterschool, on-site at schools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  8-week sessions, weekly meet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VIBE   Culture Club + games + crafts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  Pilot fall 2026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Pricing TBD · pilot pricing for first school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4E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48640"/>
            <a:ext cx="3840480" cy="4046220"/>
          </a:xfrm>
          <a:prstGeom prst="rect">
            <a:avLst/>
          </a:prstGeom>
          <a:solidFill>
            <a:srgbClr val="FFFEF8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548640"/>
            <a:ext cx="3840480" cy="914400"/>
          </a:xfrm>
          <a:prstGeom prst="rect">
            <a:avLst/>
          </a:prstGeom>
          <a:solidFill>
            <a:srgbClr val="CC2529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00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800" kern="0" dirty="0">
                <a:solidFill>
                  <a:srgbClr val="FAF4E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COLUMBIA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spc="400" kern="0" dirty="0">
                <a:solidFill>
                  <a:srgbClr val="FAF4E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TITLE DEED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22960" y="16916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C2529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THE ANCHOR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196596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Where Speak Easy was born.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260604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635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NIGHTS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057400" y="260604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Tue · Thu · Sat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22960" y="292608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635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TIME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057400" y="292608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6:30 PM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22960" y="324612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635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VENUE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057400" y="324612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Bar near Columbia College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22960" y="356616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635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LANGUAGE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057400" y="356616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Spanish → English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22960" y="388620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635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FORMAT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057400" y="388620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Games · Drinks · Dollars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22960" y="420624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635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CONTACT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057400" y="420624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803.881.6626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754880" y="5486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CC2529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WHY IT WORKS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54880" y="86868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Spanish speakers walk in. English happens.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4754880" y="178308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drinks in, the speakeasy economy takes over. You earn Speak Easy Dollars for risking words you wouldn't try on Duolingo. You spend them on rounds.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54880" y="29718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CC2529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PRICING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54880" y="3291840"/>
            <a:ext cx="709574" cy="9144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6" name="Text 24"/>
          <p:cNvSpPr/>
          <p:nvPr/>
        </p:nvSpPr>
        <p:spPr>
          <a:xfrm>
            <a:off x="4773168" y="3337560"/>
            <a:ext cx="6729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C51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$10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4773168" y="3840480"/>
            <a:ext cx="6729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FAF4E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FIRST NIGHT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537606" y="3291840"/>
            <a:ext cx="709574" cy="9144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9" name="Text 27"/>
          <p:cNvSpPr/>
          <p:nvPr/>
        </p:nvSpPr>
        <p:spPr>
          <a:xfrm>
            <a:off x="5555894" y="3337560"/>
            <a:ext cx="6729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C51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$20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5555894" y="3840480"/>
            <a:ext cx="6729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FAF4E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DROP-IN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320333" y="3291840"/>
            <a:ext cx="709574" cy="9144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2" name="Text 30"/>
          <p:cNvSpPr/>
          <p:nvPr/>
        </p:nvSpPr>
        <p:spPr>
          <a:xfrm>
            <a:off x="6338621" y="3337560"/>
            <a:ext cx="6729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C51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$35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6338621" y="3840480"/>
            <a:ext cx="6729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FAF4E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WEEK PASS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103059" y="3291840"/>
            <a:ext cx="709574" cy="9144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5" name="Text 33"/>
          <p:cNvSpPr/>
          <p:nvPr/>
        </p:nvSpPr>
        <p:spPr>
          <a:xfrm>
            <a:off x="7121347" y="3337560"/>
            <a:ext cx="6729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C51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$99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7121347" y="3840480"/>
            <a:ext cx="6729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FAF4E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MONTH PASS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7885786" y="3291840"/>
            <a:ext cx="709574" cy="9144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8" name="Text 36"/>
          <p:cNvSpPr/>
          <p:nvPr/>
        </p:nvSpPr>
        <p:spPr>
          <a:xfrm>
            <a:off x="7904074" y="3337560"/>
            <a:ext cx="6729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C51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$199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7904074" y="3840480"/>
            <a:ext cx="6729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FAF4E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3-MONTH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754880" y="44348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3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speak.easy.columbia@gmail.com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A0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C9A84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CHARLOTTE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AF4E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After-work, after-hours, after the apps.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35040" y="1783080"/>
            <a:ext cx="2651760" cy="2286000"/>
          </a:xfrm>
          <a:prstGeom prst="rect">
            <a:avLst/>
          </a:prstGeom>
          <a:solidFill>
            <a:srgbClr val="0B1A0D"/>
          </a:solidFill>
          <a:ln w="254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0" y="19202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spc="1200" kern="0" dirty="0">
                <a:solidFill>
                  <a:srgbClr val="C9A84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OPEN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6035040" y="27889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spc="300" kern="0" dirty="0">
                <a:solidFill>
                  <a:srgbClr val="FAF4E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WED · FRI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035040" y="32461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6 – 8 PM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035040" y="36118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AF4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happy hour pricing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1783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84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THE EXPERIMENT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10312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AF4E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Same brand. Different city. Drink discount included.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48640" y="2971800"/>
            <a:ext cx="5303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F4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Charlotte bars host us on rotation, three months at a time. Locals stop in for cocktails. They leave with Spanglish, a new crew, and a stack of Speak Easy Dollars.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0" y="4366260"/>
            <a:ext cx="9144000" cy="7772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436626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$10 FIRST · $20 DROP-IN · $99 MONTH · $199 THREE-MONTH · DRINK DISCOUNT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4E1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365760"/>
            <a:ext cx="2286000" cy="411480"/>
          </a:xfrm>
          <a:prstGeom prst="rect">
            <a:avLst/>
          </a:prstGeom>
          <a:solidFill>
            <a:srgbClr val="CC252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0" y="3657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AF4E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DRAFT  ·  IN PROGRESS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CC2529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KIDS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Eight weeks. Five grades.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One afterschool classroom that doesn't feel like school.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40080" y="2240280"/>
            <a:ext cx="1965960" cy="685800"/>
          </a:xfrm>
          <a:prstGeom prst="rect">
            <a:avLst/>
          </a:prstGeom>
          <a:solidFill>
            <a:srgbClr val="F5C518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240280"/>
            <a:ext cx="411480" cy="6858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240280"/>
            <a:ext cx="411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C51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WK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5C51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97280" y="224028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HOLA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697480" y="2240280"/>
            <a:ext cx="1965960" cy="685800"/>
          </a:xfrm>
          <a:prstGeom prst="rect">
            <a:avLst/>
          </a:prstGeom>
          <a:solidFill>
            <a:srgbClr val="F5C518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97480" y="2240280"/>
            <a:ext cx="411480" cy="6858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3" name="Text 11"/>
          <p:cNvSpPr/>
          <p:nvPr/>
        </p:nvSpPr>
        <p:spPr>
          <a:xfrm>
            <a:off x="2697480" y="2240280"/>
            <a:ext cx="411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C51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WK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5C51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154680" y="224028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FAMILIA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754880" y="2240280"/>
            <a:ext cx="1965960" cy="685800"/>
          </a:xfrm>
          <a:prstGeom prst="rect">
            <a:avLst/>
          </a:prstGeom>
          <a:solidFill>
            <a:srgbClr val="F5C518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0" y="2240280"/>
            <a:ext cx="411480" cy="6858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2240280"/>
            <a:ext cx="411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C51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WK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5C51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212080" y="224028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COMIDA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812280" y="2240280"/>
            <a:ext cx="1965960" cy="685800"/>
          </a:xfrm>
          <a:prstGeom prst="rect">
            <a:avLst/>
          </a:prstGeom>
          <a:solidFill>
            <a:srgbClr val="F5C518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12280" y="2240280"/>
            <a:ext cx="411480" cy="6858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1" name="Text 19"/>
          <p:cNvSpPr/>
          <p:nvPr/>
        </p:nvSpPr>
        <p:spPr>
          <a:xfrm>
            <a:off x="6812280" y="2240280"/>
            <a:ext cx="411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C51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WK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5C51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269480" y="224028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MERCADO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40080" y="3017520"/>
            <a:ext cx="1965960" cy="685800"/>
          </a:xfrm>
          <a:prstGeom prst="rect">
            <a:avLst/>
          </a:prstGeom>
          <a:solidFill>
            <a:srgbClr val="F5C518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3017520"/>
            <a:ext cx="411480" cy="6858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017520"/>
            <a:ext cx="411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C51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WK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5C51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97280" y="301752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FIESTA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2697480" y="3017520"/>
            <a:ext cx="1965960" cy="685800"/>
          </a:xfrm>
          <a:prstGeom prst="rect">
            <a:avLst/>
          </a:prstGeom>
          <a:solidFill>
            <a:srgbClr val="F5C518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697480" y="3017520"/>
            <a:ext cx="411480" cy="6858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9" name="Text 27"/>
          <p:cNvSpPr/>
          <p:nvPr/>
        </p:nvSpPr>
        <p:spPr>
          <a:xfrm>
            <a:off x="2697480" y="3017520"/>
            <a:ext cx="411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C51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WK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5C51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6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154680" y="301752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CUENTOS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754880" y="3017520"/>
            <a:ext cx="1965960" cy="685800"/>
          </a:xfrm>
          <a:prstGeom prst="rect">
            <a:avLst/>
          </a:prstGeom>
          <a:solidFill>
            <a:srgbClr val="F5C518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54880" y="3017520"/>
            <a:ext cx="411480" cy="6858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3" name="Text 31"/>
          <p:cNvSpPr/>
          <p:nvPr/>
        </p:nvSpPr>
        <p:spPr>
          <a:xfrm>
            <a:off x="4754880" y="3017520"/>
            <a:ext cx="411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C51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WK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5C51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7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212080" y="301752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JUEGOS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812280" y="3017520"/>
            <a:ext cx="1965960" cy="685800"/>
          </a:xfrm>
          <a:prstGeom prst="rect">
            <a:avLst/>
          </a:prstGeom>
          <a:solidFill>
            <a:srgbClr val="F5C518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12280" y="3017520"/>
            <a:ext cx="411480" cy="6858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7" name="Text 35"/>
          <p:cNvSpPr/>
          <p:nvPr/>
        </p:nvSpPr>
        <p:spPr>
          <a:xfrm>
            <a:off x="6812280" y="3017520"/>
            <a:ext cx="411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C51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WK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5C51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8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269480" y="301752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FINALE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0" y="4503420"/>
            <a:ext cx="9144000" cy="6400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0" name="Text 38"/>
          <p:cNvSpPr/>
          <p:nvPr/>
        </p:nvSpPr>
        <p:spPr>
          <a:xfrm>
            <a:off x="457200" y="45034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AF4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Themes inspired by Culture Club. Final curriculum locks once source materials are reviewed.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4E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CC2529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PARTNER VALUE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If you host us, here's the deal.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931920" cy="2857500"/>
          </a:xfrm>
          <a:prstGeom prst="rect">
            <a:avLst/>
          </a:prstGeom>
          <a:solidFill>
            <a:srgbClr val="0B1A0D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37360"/>
            <a:ext cx="3931920" cy="5029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7373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500" kern="0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BARS  ·  RESTAURANTS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423160"/>
            <a:ext cx="3383280" cy="19888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00" dirty="0">
                <a:solidFill>
                  <a:srgbClr val="FAF4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Pack your off-nights with a recurring crowd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00" dirty="0">
                <a:solidFill>
                  <a:srgbClr val="FAF4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30–50 paying customers per session, drinking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00" dirty="0">
                <a:solidFill>
                  <a:srgbClr val="FAF4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 local press: "the bar that teaches Spanish"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00" dirty="0">
                <a:solidFill>
                  <a:srgbClr val="FAF4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Speak Easy handles marketing &amp; programming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00" dirty="0">
                <a:solidFill>
                  <a:srgbClr val="FAF4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Zero risk: revenue share, no rent up front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737360"/>
            <a:ext cx="3840480" cy="2857500"/>
          </a:xfrm>
          <a:prstGeom prst="rect">
            <a:avLst/>
          </a:prstGeom>
          <a:solidFill>
            <a:srgbClr val="FFFEF8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737360"/>
            <a:ext cx="3840480" cy="502920"/>
          </a:xfrm>
          <a:prstGeom prst="rect">
            <a:avLst/>
          </a:prstGeom>
          <a:solidFill>
            <a:srgbClr val="CC2529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7373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500" kern="0" dirty="0">
                <a:solidFill>
                  <a:srgbClr val="FAF4E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SCHOOLS  ·  PTAs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2423160"/>
            <a:ext cx="3291840" cy="19888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Turnkey 8-week afterschool, K–5 mixed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Bilingual enrichment with real outcomes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Parent goodwill: not another worksheet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Instructor + materials + games included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Week-8 finale showcase for families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E6C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CC2529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PRICING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Built to be the easiest yes of your week.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80467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71600"/>
                <a:gridCol w="45720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spc="300" kern="0" dirty="0">
                          <a:solidFill>
                            <a:srgbClr val="FFFFFF"/>
                          </a:solidFill>
                          <a:latin typeface="Oswald" pitchFamily="34" charset="0"/>
                          <a:ea typeface="Oswald" pitchFamily="34" charset="-122"/>
                          <a:cs typeface="Oswald" pitchFamily="34" charset="-120"/>
                        </a:rPr>
                        <a:t>TIER</a:t>
                      </a:r>
                      <a:endParaRPr lang="en-US" sz="1200" dirty="0">
                        <a:latin typeface="Oswald" charset="0"/>
                        <a:ea typeface="Oswald" charset="0"/>
                        <a:cs typeface="Oswa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spc="300" kern="0" dirty="0">
                          <a:solidFill>
                            <a:srgbClr val="FFFFFF"/>
                          </a:solidFill>
                          <a:latin typeface="Oswald" pitchFamily="34" charset="0"/>
                          <a:ea typeface="Oswald" pitchFamily="34" charset="-122"/>
                          <a:cs typeface="Oswald" pitchFamily="34" charset="-120"/>
                        </a:rPr>
                        <a:t>PRICE</a:t>
                      </a:r>
                      <a:endParaRPr lang="en-US" sz="1200" dirty="0">
                        <a:latin typeface="Oswald" charset="0"/>
                        <a:ea typeface="Oswald" charset="0"/>
                        <a:cs typeface="Oswa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spc="300" kern="0" dirty="0">
                          <a:solidFill>
                            <a:srgbClr val="FFFFFF"/>
                          </a:solidFill>
                          <a:latin typeface="Oswald" pitchFamily="34" charset="0"/>
                          <a:ea typeface="Oswald" pitchFamily="34" charset="-122"/>
                          <a:cs typeface="Oswald" pitchFamily="34" charset="-120"/>
                        </a:rPr>
                        <a:t>WHAT YOU GET</a:t>
                      </a:r>
                      <a:endParaRPr lang="en-US" sz="1200" dirty="0">
                        <a:latin typeface="Oswald" charset="0"/>
                        <a:ea typeface="Oswald" charset="0"/>
                        <a:cs typeface="Oswa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A2A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First night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C2529"/>
                          </a:solidFill>
                          <a:latin typeface="Oswald" pitchFamily="34" charset="0"/>
                          <a:ea typeface="Oswald" pitchFamily="34" charset="-122"/>
                          <a:cs typeface="Oswald" pitchFamily="34" charset="-120"/>
                        </a:rPr>
                        <a:t>$10</a:t>
                      </a:r>
                      <a:endParaRPr lang="en-US" sz="1200" dirty="0">
                        <a:latin typeface="Oswald" charset="0"/>
                        <a:ea typeface="Oswald" charset="0"/>
                        <a:cs typeface="Oswa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Walk in cold. See if Speak Easy is your thing.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A2A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Drop-in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C2529"/>
                          </a:solidFill>
                          <a:latin typeface="Oswald" pitchFamily="34" charset="0"/>
                          <a:ea typeface="Oswald" pitchFamily="34" charset="-122"/>
                          <a:cs typeface="Oswald" pitchFamily="34" charset="-120"/>
                        </a:rPr>
                        <a:t>$20</a:t>
                      </a:r>
                      <a:endParaRPr lang="en-US" sz="1200" dirty="0">
                        <a:latin typeface="Oswald" charset="0"/>
                        <a:ea typeface="Oswald" charset="0"/>
                        <a:cs typeface="Oswa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Any night, no commitment.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A2A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Week pass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C2529"/>
                          </a:solidFill>
                          <a:latin typeface="Oswald" pitchFamily="34" charset="0"/>
                          <a:ea typeface="Oswald" pitchFamily="34" charset="-122"/>
                          <a:cs typeface="Oswald" pitchFamily="34" charset="-120"/>
                        </a:rPr>
                        <a:t>$35</a:t>
                      </a:r>
                      <a:endParaRPr lang="en-US" sz="1200" dirty="0">
                        <a:latin typeface="Oswald" charset="0"/>
                        <a:ea typeface="Oswald" charset="0"/>
                        <a:cs typeface="Oswa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Columbia only — 3 nights, one price.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A2A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Month pass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C2529"/>
                          </a:solidFill>
                          <a:latin typeface="Oswald" pitchFamily="34" charset="0"/>
                          <a:ea typeface="Oswald" pitchFamily="34" charset="-122"/>
                          <a:cs typeface="Oswald" pitchFamily="34" charset="-120"/>
                        </a:rPr>
                        <a:t>$99</a:t>
                      </a:r>
                      <a:endParaRPr lang="en-US" sz="1200" dirty="0">
                        <a:latin typeface="Oswald" charset="0"/>
                        <a:ea typeface="Oswald" charset="0"/>
                        <a:cs typeface="Oswa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Every night for 30 days. Best value.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A2A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3-month course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C2529"/>
                          </a:solidFill>
                          <a:latin typeface="Oswald" pitchFamily="34" charset="0"/>
                          <a:ea typeface="Oswald" pitchFamily="34" charset="-122"/>
                          <a:cs typeface="Oswald" pitchFamily="34" charset="-120"/>
                        </a:rPr>
                        <a:t>$199</a:t>
                      </a:r>
                      <a:endParaRPr lang="en-US" sz="1200" dirty="0">
                        <a:latin typeface="Oswald" charset="0"/>
                        <a:ea typeface="Oswald" charset="0"/>
                        <a:cs typeface="Oswa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Curriculum + showcase. Real progress.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A2A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Kids 8-wk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B6358"/>
                          </a:solidFill>
                          <a:latin typeface="Oswald" pitchFamily="34" charset="0"/>
                          <a:ea typeface="Oswald" pitchFamily="34" charset="-122"/>
                          <a:cs typeface="Oswald" pitchFamily="34" charset="-120"/>
                        </a:rPr>
                        <a:t>TBD</a:t>
                      </a:r>
                      <a:endParaRPr lang="en-US" sz="1200" dirty="0">
                        <a:latin typeface="Oswald" charset="0"/>
                        <a:ea typeface="Oswald" charset="0"/>
                        <a:cs typeface="Oswa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Afterschool Spanish, K–5. Pilot pricing.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4594860"/>
            <a:ext cx="9144000" cy="5486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" name="Text 4"/>
          <p:cNvSpPr/>
          <p:nvPr/>
        </p:nvSpPr>
        <p:spPr>
          <a:xfrm>
            <a:off x="0" y="45948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5C51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THE HOUSE ALWAYS PAYS YOU BACK — IN SPEAK EASY DOLLARS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4E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CC2529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THE ASK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Pick your card. We'll deal you in.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88620" y="1691640"/>
            <a:ext cx="2697480" cy="2743200"/>
          </a:xfrm>
          <a:prstGeom prst="rect">
            <a:avLst/>
          </a:prstGeom>
          <a:solidFill>
            <a:srgbClr val="FFFEF8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8620" y="1691640"/>
            <a:ext cx="2697480" cy="6400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7" name="Text 5"/>
          <p:cNvSpPr/>
          <p:nvPr/>
        </p:nvSpPr>
        <p:spPr>
          <a:xfrm>
            <a:off x="388620" y="169164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500" kern="0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BAR OWNERS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71500" y="25603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spc="200" kern="0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HOST US.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17220" y="324612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off-nights on your calendar become Speak Easy nights. We bring the crowd. You pour the drinks. Revenue share, no rent.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23260" y="1691640"/>
            <a:ext cx="2697480" cy="2743200"/>
          </a:xfrm>
          <a:prstGeom prst="rect">
            <a:avLst/>
          </a:prstGeom>
          <a:solidFill>
            <a:srgbClr val="FFFEF8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23260" y="1691640"/>
            <a:ext cx="2697480" cy="640080"/>
          </a:xfrm>
          <a:prstGeom prst="rect">
            <a:avLst/>
          </a:prstGeom>
          <a:solidFill>
            <a:srgbClr val="CC2529"/>
          </a:solidFill>
          <a:ln/>
        </p:spPr>
      </p:sp>
      <p:sp>
        <p:nvSpPr>
          <p:cNvPr id="12" name="Text 10"/>
          <p:cNvSpPr/>
          <p:nvPr/>
        </p:nvSpPr>
        <p:spPr>
          <a:xfrm>
            <a:off x="3223260" y="169164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500" kern="0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SCHOOLS · PTAs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06140" y="25603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spc="200" kern="0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PILOT US.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451860" y="324612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Eight weeks. One classroom. K–5 mixed. We provide instructor, materials, games, showcase. You provide the room.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57900" y="1691640"/>
            <a:ext cx="2697480" cy="2743200"/>
          </a:xfrm>
          <a:prstGeom prst="rect">
            <a:avLst/>
          </a:prstGeom>
          <a:solidFill>
            <a:srgbClr val="FFFEF8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57900" y="1691640"/>
            <a:ext cx="2697480" cy="64008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17" name="Text 15"/>
          <p:cNvSpPr/>
          <p:nvPr/>
        </p:nvSpPr>
        <p:spPr>
          <a:xfrm>
            <a:off x="6057900" y="169164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500" kern="0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STUDENTS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40780" y="25603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spc="200" kern="0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ENROLL.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286500" y="324612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Show up Tuesday. $10. We'll do the rest. By month two you're ordering rounds in your second language.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46405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500" kern="0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WE ARE TAKING MEETINGS NOW.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320040"/>
            <a:ext cx="8503920" cy="4503420"/>
          </a:xfrm>
          <a:prstGeom prst="rect">
            <a:avLst/>
          </a:prstGeom>
          <a:ln w="1905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57200"/>
            <a:ext cx="8229600" cy="4229100"/>
          </a:xfrm>
          <a:prstGeom prst="rect">
            <a:avLst/>
          </a:prstGeom>
          <a:ln w="635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800" kern="0" dirty="0">
                <a:solidFill>
                  <a:srgbClr val="C9A84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KNOCK THREE TIMES.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spc="1000" kern="0" dirty="0">
                <a:solidFill>
                  <a:srgbClr val="FAF4E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SPEAK EASY</a:t>
            </a:r>
            <a:endParaRPr lang="en-US" sz="8000" dirty="0"/>
          </a:p>
        </p:txBody>
      </p:sp>
      <p:sp>
        <p:nvSpPr>
          <p:cNvPr id="7" name="Shape 5"/>
          <p:cNvSpPr/>
          <p:nvPr/>
        </p:nvSpPr>
        <p:spPr>
          <a:xfrm>
            <a:off x="3657600" y="2697480"/>
            <a:ext cx="1828800" cy="0"/>
          </a:xfrm>
          <a:prstGeom prst="line">
            <a:avLst/>
          </a:prstGeom>
          <a:noFill/>
          <a:ln w="25400">
            <a:solidFill>
              <a:srgbClr val="F5C51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AF4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speak.easy.columbia@gmail.com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3337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AF4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803.881.6626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0" y="4503420"/>
            <a:ext cx="9144000" cy="64008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11" name="Text 9"/>
          <p:cNvSpPr/>
          <p:nvPr/>
        </p:nvSpPr>
        <p:spPr>
          <a:xfrm>
            <a:off x="0" y="45034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1000" kern="0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COLUMBIA  ·  CHARLOTTE  ·  KIDS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Speak Easy — Master Pitch</dc:title>
  <dc:subject>PptxGenJS Presentation</dc:subject>
  <dc:creator>Speak Easy</dc:creator>
  <cp:lastModifiedBy>Speak Easy</cp:lastModifiedBy>
  <cp:revision>1</cp:revision>
  <dcterms:created xsi:type="dcterms:W3CDTF">2026-05-25T02:32:00Z</dcterms:created>
  <dcterms:modified xsi:type="dcterms:W3CDTF">2026-05-25T02:32:00Z</dcterms:modified>
</cp:coreProperties>
</file>